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7" r:id="rId4"/>
    <p:sldId id="262" r:id="rId5"/>
    <p:sldId id="263" r:id="rId6"/>
    <p:sldId id="273" r:id="rId7"/>
    <p:sldId id="264" r:id="rId8"/>
    <p:sldId id="265" r:id="rId9"/>
    <p:sldId id="274" r:id="rId10"/>
    <p:sldId id="267" r:id="rId11"/>
    <p:sldId id="277" r:id="rId12"/>
    <p:sldId id="268" r:id="rId13"/>
    <p:sldId id="278" r:id="rId14"/>
    <p:sldId id="271" r:id="rId15"/>
    <p:sldId id="259" r:id="rId16"/>
  </p:sldIdLst>
  <p:sldSz cx="12192000" cy="6858000"/>
  <p:notesSz cx="6858000" cy="9144000"/>
  <p:embeddedFontLst>
    <p:embeddedFont>
      <p:font typeface="Lato Black" charset="0"/>
      <p:bold r:id="rId18"/>
      <p:boldItalic r:id="rId19"/>
    </p:embeddedFont>
    <p:embeddedFont>
      <p:font typeface="Libre Baskerville" charset="0"/>
      <p:regular r:id="rId20"/>
      <p:bold r:id="rId21"/>
      <p:italic r:id="rId22"/>
    </p:embeddedFont>
    <p:embeddedFont>
      <p:font typeface="Calibri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946" y="-23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9637729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8431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58717"/>
          <a:stretch/>
        </p:blipFill>
        <p:spPr>
          <a:xfrm>
            <a:off x="0" y="-314960"/>
            <a:ext cx="12190815" cy="27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766916" y="2635185"/>
            <a:ext cx="11208775" cy="17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1" dirty="0">
                <a:solidFill>
                  <a:schemeClr val="tx1"/>
                </a:solidFill>
              </a:rPr>
              <a:t>Exploratory Data Analysis on Credit </a:t>
            </a:r>
            <a:r>
              <a:rPr lang="en-US" sz="3600" b="1" dirty="0" smtClean="0">
                <a:solidFill>
                  <a:schemeClr val="tx1"/>
                </a:solidFill>
              </a:rPr>
              <a:t>Risk </a:t>
            </a:r>
            <a:r>
              <a:rPr lang="en-US" sz="3600" b="1" dirty="0">
                <a:solidFill>
                  <a:schemeClr val="tx1"/>
                </a:solidFill>
              </a:rPr>
              <a:t>Dataset</a:t>
            </a:r>
          </a:p>
          <a:p>
            <a:endParaRPr lang="en-US" b="1" dirty="0"/>
          </a:p>
          <a:p>
            <a:r>
              <a:rPr lang="en-US" b="1" dirty="0"/>
              <a:t>                                                                                                                                                                                                 </a:t>
            </a:r>
            <a:r>
              <a:rPr lang="en-US" b="1" dirty="0">
                <a:latin typeface="+mn-lt"/>
              </a:rPr>
              <a:t>Name:</a:t>
            </a:r>
            <a:r>
              <a:rPr lang="en-US" dirty="0">
                <a:latin typeface="+mn-lt"/>
              </a:rPr>
              <a:t> </a:t>
            </a:r>
            <a:r>
              <a:rPr lang="en-US" i="1" dirty="0" err="1" smtClean="0">
                <a:latin typeface="+mj-lt"/>
              </a:rPr>
              <a:t>Ragasudha</a:t>
            </a: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                                                                                                                                                                                                 </a:t>
            </a:r>
            <a:r>
              <a:rPr lang="en-US" b="1" dirty="0">
                <a:latin typeface="+mn-lt"/>
              </a:rPr>
              <a:t>Batch:</a:t>
            </a:r>
            <a:r>
              <a:rPr lang="en-US" dirty="0">
                <a:latin typeface="+mn-lt"/>
              </a:rPr>
              <a:t> </a:t>
            </a:r>
            <a:r>
              <a:rPr lang="en-US" i="1" dirty="0">
                <a:latin typeface="+mn-lt"/>
              </a:rPr>
              <a:t>467</a:t>
            </a:r>
            <a:endParaRPr lang="en-US" dirty="0">
              <a:latin typeface="+mn-l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491613"/>
            <a:ext cx="10515600" cy="852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Clr>
                <a:srgbClr val="FF0000"/>
              </a:buClr>
              <a:buSzPts val="4400"/>
            </a:pPr>
            <a:r>
              <a:rPr lang="en-IN" sz="4000" b="1" dirty="0">
                <a:solidFill>
                  <a:srgbClr val="FF0000"/>
                </a:solidFill>
              </a:rPr>
              <a:t> </a:t>
            </a:r>
            <a:br>
              <a:rPr lang="en-IN" sz="4000" b="1" dirty="0">
                <a:solidFill>
                  <a:srgbClr val="FF0000"/>
                </a:solidFill>
              </a:rPr>
            </a:br>
            <a:r>
              <a:rPr lang="en-IN" sz="4000" b="1" dirty="0">
                <a:solidFill>
                  <a:srgbClr val="FF0000"/>
                </a:solidFill>
              </a:rPr>
              <a:t>                                 </a:t>
            </a:r>
            <a:r>
              <a:rPr lang="en-IN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Overview of the Project</a:t>
            </a:r>
            <a:r>
              <a:rPr lang="en-IN" sz="3600" b="1" dirty="0">
                <a:solidFill>
                  <a:srgbClr val="FF0000"/>
                </a:solidFill>
              </a:rPr>
              <a:t/>
            </a:r>
            <a:br>
              <a:rPr lang="en-IN" sz="3600" b="1" dirty="0">
                <a:solidFill>
                  <a:srgbClr val="FF0000"/>
                </a:solidFill>
              </a:rPr>
            </a:br>
            <a:r>
              <a:rPr lang="en-IN" sz="3600" b="1" dirty="0">
                <a:solidFill>
                  <a:srgbClr val="FF0000"/>
                </a:solidFill>
              </a:rPr>
              <a:t/>
            </a:r>
            <a:br>
              <a:rPr lang="en-IN" sz="3600" b="1" dirty="0">
                <a:solidFill>
                  <a:srgbClr val="FF0000"/>
                </a:solidFill>
              </a:rPr>
            </a:br>
            <a:r>
              <a:rPr lang="en-IN" sz="3600" b="1" dirty="0">
                <a:solidFill>
                  <a:srgbClr val="FF0000"/>
                </a:solidFill>
              </a:rPr>
              <a:t>    </a:t>
            </a:r>
            <a:r>
              <a:rPr lang="en-IN" sz="3200" b="1" u="sng" dirty="0">
                <a:solidFill>
                  <a:schemeClr val="tx1"/>
                </a:solidFill>
              </a:rPr>
              <a:t>Agenda:</a:t>
            </a:r>
            <a:endParaRPr sz="3200" b="1" u="sng" dirty="0">
              <a:solidFill>
                <a:schemeClr val="tx1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334297" y="1919030"/>
            <a:ext cx="1086618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Dataset Overview</a:t>
            </a:r>
          </a:p>
          <a:p>
            <a:r>
              <a:rPr lang="en-US" dirty="0"/>
              <a:t>Data Cleaning &amp; </a:t>
            </a:r>
            <a:r>
              <a:rPr lang="en-US" dirty="0" smtClean="0"/>
              <a:t>Preparation</a:t>
            </a:r>
          </a:p>
          <a:p>
            <a:r>
              <a:rPr lang="en-US" dirty="0"/>
              <a:t>Non-Visual </a:t>
            </a:r>
            <a:r>
              <a:rPr lang="en-US" dirty="0" smtClean="0"/>
              <a:t>Analysis</a:t>
            </a:r>
            <a:endParaRPr lang="en-US" dirty="0"/>
          </a:p>
          <a:p>
            <a:r>
              <a:rPr lang="en-US" dirty="0"/>
              <a:t>Univariate Analysis</a:t>
            </a:r>
          </a:p>
          <a:p>
            <a:r>
              <a:rPr lang="en-US" dirty="0"/>
              <a:t>Bivariate </a:t>
            </a:r>
            <a:r>
              <a:rPr lang="en-US" dirty="0" smtClean="0"/>
              <a:t>Analysis</a:t>
            </a:r>
          </a:p>
          <a:p>
            <a:r>
              <a:rPr lang="en-US" dirty="0" smtClean="0"/>
              <a:t>Insights </a:t>
            </a:r>
            <a:r>
              <a:rPr lang="en-US" dirty="0"/>
              <a:t>&amp; Conclusion</a:t>
            </a:r>
          </a:p>
          <a:p>
            <a:pPr marL="228600" lvl="0" indent="-130810"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57084" y="1730477"/>
            <a:ext cx="10844980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/>
              <a:t>Banks and financial institutions face losses when borrowers fail to repay loans</a:t>
            </a:r>
            <a:r>
              <a:rPr lang="en-US" sz="2000" dirty="0" smtClean="0"/>
              <a:t>.</a:t>
            </a:r>
          </a:p>
          <a:p>
            <a:pPr>
              <a:buClr>
                <a:schemeClr val="dk1"/>
              </a:buClr>
              <a:buSzPts val="1800"/>
            </a:pPr>
            <a:endParaRPr lang="en-US" sz="2000" dirty="0" smtClean="0"/>
          </a:p>
          <a:p>
            <a:pPr marL="28575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 smtClean="0"/>
              <a:t>Exploratory Data Analysis (EDA) is used to understand borrower behavior and financial risk.</a:t>
            </a:r>
            <a:endParaRPr lang="en-US" sz="2000" dirty="0"/>
          </a:p>
          <a:p>
            <a:pPr>
              <a:buClr>
                <a:schemeClr val="dk1"/>
              </a:buClr>
              <a:buSzPts val="1800"/>
            </a:pPr>
            <a:endParaRPr lang="en-US" sz="2000" dirty="0" smtClean="0"/>
          </a:p>
          <a:p>
            <a:pPr marL="28575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 smtClean="0"/>
              <a:t>The </a:t>
            </a:r>
            <a:r>
              <a:rPr lang="en-US" sz="2000" dirty="0"/>
              <a:t>goal of this project is to analyze borrower and loan data to identify patterns that lead to loan default</a:t>
            </a:r>
            <a:r>
              <a:rPr lang="en-US" sz="2000" dirty="0" smtClean="0"/>
              <a:t>.</a:t>
            </a:r>
          </a:p>
          <a:p>
            <a:pPr>
              <a:buClr>
                <a:schemeClr val="dk1"/>
              </a:buClr>
              <a:buSzPts val="1800"/>
            </a:pPr>
            <a:endParaRPr lang="en-US" sz="2000" dirty="0"/>
          </a:p>
        </p:txBody>
      </p:sp>
      <p:sp>
        <p:nvSpPr>
          <p:cNvPr id="105" name="Google Shape;105;p3"/>
          <p:cNvSpPr txBox="1"/>
          <p:nvPr/>
        </p:nvSpPr>
        <p:spPr>
          <a:xfrm>
            <a:off x="535811" y="416554"/>
            <a:ext cx="9837549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endParaRPr lang="en-IN" sz="36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6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</a:t>
            </a:r>
            <a:r>
              <a:rPr lang="en-IN" sz="3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36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DF7C01-F662-78AD-4172-647E935FE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5417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                                  </a:t>
            </a:r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Why This Project?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2C23485-9005-5AA4-ACE5-867D054EB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40542"/>
            <a:ext cx="10515600" cy="503642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900" b="1" dirty="0"/>
              <a:t>Why I Chose This Dataset</a:t>
            </a:r>
          </a:p>
          <a:p>
            <a:r>
              <a:rPr lang="en-US" sz="2000" dirty="0" smtClean="0"/>
              <a:t>Loan default prediction is a </a:t>
            </a:r>
            <a:r>
              <a:rPr lang="en-US" sz="2000" b="1" dirty="0" smtClean="0"/>
              <a:t>real-world business problem</a:t>
            </a:r>
          </a:p>
          <a:p>
            <a:r>
              <a:rPr lang="en-US" sz="2000" dirty="0" smtClean="0"/>
              <a:t>Used </a:t>
            </a:r>
            <a:r>
              <a:rPr lang="en-US" sz="2000" dirty="0"/>
              <a:t>in banks, NBFCs, </a:t>
            </a:r>
            <a:r>
              <a:rPr lang="en-US" sz="2000" dirty="0" err="1"/>
              <a:t>fintech</a:t>
            </a:r>
            <a:r>
              <a:rPr lang="en-US" sz="2000" dirty="0"/>
              <a:t> companies</a:t>
            </a:r>
          </a:p>
          <a:p>
            <a:r>
              <a:rPr lang="en-US" sz="2000" dirty="0"/>
              <a:t>Highly relevant for:</a:t>
            </a:r>
          </a:p>
          <a:p>
            <a:pPr lvl="1"/>
            <a:r>
              <a:rPr lang="en-US" sz="2000" dirty="0"/>
              <a:t>Data Analysts</a:t>
            </a:r>
          </a:p>
          <a:p>
            <a:pPr lvl="1"/>
            <a:r>
              <a:rPr lang="en-US" sz="2000" dirty="0"/>
              <a:t>Risk Analysts</a:t>
            </a:r>
          </a:p>
          <a:p>
            <a:pPr lvl="1"/>
            <a:r>
              <a:rPr lang="en-US" sz="2000" dirty="0"/>
              <a:t>Fraud Detection </a:t>
            </a:r>
            <a:r>
              <a:rPr lang="en-US" sz="2000" dirty="0" smtClean="0"/>
              <a:t>Systems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45517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8EA7B3-FF31-6FD7-F8CB-206505E6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8215"/>
            <a:ext cx="10515600" cy="535857"/>
          </a:xfrm>
        </p:spPr>
        <p:txBody>
          <a:bodyPr>
            <a:normAutofit fontScale="90000"/>
          </a:bodyPr>
          <a:lstStyle/>
          <a:p>
            <a:r>
              <a:rPr lang="en-IN" sz="4000" b="1" dirty="0" smtClean="0">
                <a:solidFill>
                  <a:srgbClr val="FF0000"/>
                </a:solidFill>
              </a:rPr>
              <a:t>			    </a:t>
            </a:r>
            <a:r>
              <a:rPr lang="en-IN" sz="4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Dataset Information</a:t>
            </a:r>
            <a:endParaRPr lang="en-IN" sz="4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AE5FABC-2DE3-D21E-39D6-CF03583A6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19432"/>
            <a:ext cx="11127658" cy="615499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IN" sz="3300" b="1" dirty="0" smtClean="0">
              <a:solidFill>
                <a:srgbClr val="FF0000"/>
              </a:solidFill>
            </a:endParaRPr>
          </a:p>
          <a:p>
            <a:r>
              <a:rPr lang="en-IN" sz="2000" b="1" dirty="0" smtClean="0"/>
              <a:t>Dataset Name</a:t>
            </a:r>
            <a:r>
              <a:rPr lang="en-IN" sz="2000" dirty="0" smtClean="0"/>
              <a:t>: </a:t>
            </a:r>
            <a:r>
              <a:rPr lang="en-IN" sz="2000" dirty="0"/>
              <a:t>Credit </a:t>
            </a:r>
            <a:r>
              <a:rPr lang="en-IN" sz="2000" dirty="0" smtClean="0"/>
              <a:t>Risk Dataset</a:t>
            </a:r>
          </a:p>
          <a:p>
            <a:r>
              <a:rPr lang="en-US" sz="2000" b="1" dirty="0" smtClean="0"/>
              <a:t>Source: </a:t>
            </a:r>
            <a:r>
              <a:rPr lang="en-US" sz="2000" dirty="0" err="1" smtClean="0"/>
              <a:t>Kaggle</a:t>
            </a:r>
            <a:endParaRPr lang="en-US" sz="2000" dirty="0" smtClean="0"/>
          </a:p>
          <a:p>
            <a:endParaRPr lang="en-US" dirty="0"/>
          </a:p>
          <a:p>
            <a:pPr marL="114300" indent="0">
              <a:buNone/>
            </a:pPr>
            <a:r>
              <a:rPr lang="en-US" b="1" dirty="0" smtClean="0"/>
              <a:t>Dataset Size:</a:t>
            </a:r>
            <a:endParaRPr lang="en-IN" b="1" dirty="0"/>
          </a:p>
          <a:p>
            <a:pPr lvl="1"/>
            <a:r>
              <a:rPr lang="en-IN" sz="2000" dirty="0" smtClean="0"/>
              <a:t>Rows : ~32,000+  </a:t>
            </a:r>
          </a:p>
          <a:p>
            <a:pPr lvl="1"/>
            <a:r>
              <a:rPr lang="en-IN" sz="2000" dirty="0" smtClean="0"/>
              <a:t>Columns : 12 </a:t>
            </a:r>
          </a:p>
          <a:p>
            <a:pPr lvl="1"/>
            <a:r>
              <a:rPr lang="en-IN" sz="2000" dirty="0" smtClean="0"/>
              <a:t>Data Types : </a:t>
            </a:r>
            <a:r>
              <a:rPr lang="en-IN" sz="2000" dirty="0"/>
              <a:t>Numerical &amp; </a:t>
            </a:r>
            <a:r>
              <a:rPr lang="en-IN" sz="2000" dirty="0" smtClean="0"/>
              <a:t>Categorical</a:t>
            </a:r>
          </a:p>
          <a:p>
            <a:pPr marL="114300" indent="0">
              <a:buNone/>
            </a:pPr>
            <a:endParaRPr lang="en-IN" sz="3300" dirty="0" smtClean="0"/>
          </a:p>
        </p:txBody>
      </p:sp>
    </p:spTree>
    <p:extLst>
      <p:ext uri="{BB962C8B-B14F-4D97-AF65-F5344CB8AC3E}">
        <p14:creationId xmlns:p14="http://schemas.microsoft.com/office/powerpoint/2010/main" val="921704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8EA7B3-FF31-6FD7-F8CB-206505E6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520" y="368055"/>
            <a:ext cx="10515600" cy="535857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                                </a:t>
            </a:r>
            <a:r>
              <a:rPr lang="en-IN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Understanding the 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AE5FABC-2DE3-D21E-39D6-CF03583A6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26392"/>
            <a:ext cx="11127658" cy="615499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sz="3300" b="1" dirty="0">
              <a:solidFill>
                <a:srgbClr val="FF0000"/>
              </a:solidFill>
            </a:endParaRPr>
          </a:p>
          <a:p>
            <a:pPr marL="114300" indent="0">
              <a:buNone/>
            </a:pPr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Important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Columns: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b="1" dirty="0" err="1"/>
              <a:t>person_age</a:t>
            </a:r>
            <a:r>
              <a:rPr lang="en-US" dirty="0"/>
              <a:t> – Age of borrower</a:t>
            </a:r>
          </a:p>
          <a:p>
            <a:pPr lvl="1"/>
            <a:r>
              <a:rPr lang="en-US" b="1" dirty="0" err="1"/>
              <a:t>person_income</a:t>
            </a:r>
            <a:r>
              <a:rPr lang="en-US" dirty="0"/>
              <a:t> – Annual income</a:t>
            </a:r>
          </a:p>
          <a:p>
            <a:pPr lvl="1"/>
            <a:r>
              <a:rPr lang="en-US" b="1" dirty="0" err="1"/>
              <a:t>loan_amnt</a:t>
            </a:r>
            <a:r>
              <a:rPr lang="en-US" dirty="0"/>
              <a:t> – Loan amount</a:t>
            </a:r>
          </a:p>
          <a:p>
            <a:pPr lvl="1"/>
            <a:r>
              <a:rPr lang="en-US" b="1" dirty="0" err="1"/>
              <a:t>loan_int_rate</a:t>
            </a:r>
            <a:r>
              <a:rPr lang="en-US" dirty="0"/>
              <a:t> – Interest rate</a:t>
            </a:r>
          </a:p>
          <a:p>
            <a:pPr lvl="1"/>
            <a:r>
              <a:rPr lang="en-US" b="1" dirty="0" err="1"/>
              <a:t>loan_grade</a:t>
            </a:r>
            <a:r>
              <a:rPr lang="en-US" dirty="0"/>
              <a:t> – Credit grade</a:t>
            </a:r>
          </a:p>
          <a:p>
            <a:pPr lvl="1"/>
            <a:r>
              <a:rPr lang="en-US" b="1" dirty="0" err="1"/>
              <a:t>loan_intent</a:t>
            </a:r>
            <a:r>
              <a:rPr lang="en-US" dirty="0"/>
              <a:t> – Purpose of loan</a:t>
            </a:r>
          </a:p>
          <a:p>
            <a:pPr lvl="1"/>
            <a:r>
              <a:rPr lang="en-US" b="1" dirty="0" err="1"/>
              <a:t>person_home_ownership</a:t>
            </a:r>
            <a:r>
              <a:rPr lang="en-US" dirty="0"/>
              <a:t> – Housing status</a:t>
            </a:r>
          </a:p>
          <a:p>
            <a:pPr marL="11430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Target Variable</a:t>
            </a:r>
            <a:r>
              <a:rPr lang="en-US" sz="2400" b="1" dirty="0" smtClean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en-US" b="1" dirty="0" err="1" smtClean="0"/>
              <a:t>loan_status</a:t>
            </a:r>
            <a:r>
              <a:rPr lang="en-US" b="1" dirty="0" smtClean="0"/>
              <a:t> </a:t>
            </a:r>
            <a:r>
              <a:rPr lang="en-US" dirty="0"/>
              <a:t>(0 = Non-Default, 1 = Default)</a:t>
            </a:r>
          </a:p>
          <a:p>
            <a:pPr marL="11430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Initial Observations:</a:t>
            </a:r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dirty="0"/>
              <a:t>Both financial and personal features are present</a:t>
            </a:r>
          </a:p>
          <a:p>
            <a:pPr lvl="1"/>
            <a:r>
              <a:rPr lang="en-US" dirty="0"/>
              <a:t>Suitable for analyzing credit risk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924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B6F7BF-4C4E-0083-1588-1C50A4D5C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7262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1"/>
                </a:solidFill>
              </a:rPr>
              <a:t>Data Cleaning &amp; Preparation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245D065-AE35-2D9F-9D18-A98B314E4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787" y="1032388"/>
            <a:ext cx="11267767" cy="568304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Libraries Used:</a:t>
            </a:r>
          </a:p>
          <a:p>
            <a:r>
              <a:rPr lang="en-US" sz="2000" b="1" dirty="0"/>
              <a:t>Pandas</a:t>
            </a:r>
            <a:r>
              <a:rPr lang="en-US" sz="2000" dirty="0"/>
              <a:t> – Data loading and manipulation</a:t>
            </a:r>
          </a:p>
          <a:p>
            <a:r>
              <a:rPr lang="en-US" sz="2000" b="1" dirty="0" err="1" smtClean="0"/>
              <a:t>NumPy</a:t>
            </a:r>
            <a:r>
              <a:rPr lang="en-US" sz="2000" dirty="0" smtClean="0"/>
              <a:t> – Numerical operations</a:t>
            </a:r>
          </a:p>
          <a:p>
            <a:r>
              <a:rPr lang="en-US" sz="2000" b="1" dirty="0" err="1" smtClean="0"/>
              <a:t>Matplotlib</a:t>
            </a:r>
            <a:r>
              <a:rPr lang="en-US" sz="2000" dirty="0" smtClean="0"/>
              <a:t> </a:t>
            </a:r>
            <a:r>
              <a:rPr lang="en-US" sz="2000" dirty="0"/>
              <a:t>– Data visualization</a:t>
            </a:r>
          </a:p>
          <a:p>
            <a:r>
              <a:rPr lang="en-US" sz="2000" b="1" dirty="0"/>
              <a:t>Seaborn</a:t>
            </a:r>
            <a:r>
              <a:rPr lang="en-US" sz="2000" dirty="0"/>
              <a:t> – Statistical plots</a:t>
            </a:r>
          </a:p>
          <a:p>
            <a:r>
              <a:rPr lang="en-US" sz="2000" dirty="0"/>
              <a:t>Checked dataset shape and </a:t>
            </a:r>
            <a:r>
              <a:rPr lang="en-US" sz="2000" dirty="0" smtClean="0"/>
              <a:t>structure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 smtClean="0">
                <a:solidFill>
                  <a:schemeClr val="tx1"/>
                </a:solidFill>
              </a:rPr>
              <a:t>Checking Duplicate </a:t>
            </a:r>
            <a:r>
              <a:rPr lang="en-US" sz="2000" b="1" dirty="0">
                <a:solidFill>
                  <a:schemeClr val="tx1"/>
                </a:solidFill>
              </a:rPr>
              <a:t>Values </a:t>
            </a:r>
            <a:endParaRPr lang="en-US" sz="2000" b="1" dirty="0" smtClean="0">
              <a:solidFill>
                <a:schemeClr val="tx1"/>
              </a:solidFill>
            </a:endParaRPr>
          </a:p>
          <a:p>
            <a:r>
              <a:rPr lang="en-US" sz="2000" dirty="0" smtClean="0"/>
              <a:t>Duplicate records were checked across the dataset.</a:t>
            </a:r>
          </a:p>
          <a:p>
            <a:r>
              <a:rPr lang="en-US" sz="2000" dirty="0" smtClean="0"/>
              <a:t>Duplicate </a:t>
            </a:r>
            <a:r>
              <a:rPr lang="en-US" sz="2000" dirty="0"/>
              <a:t>rows were </a:t>
            </a:r>
            <a:r>
              <a:rPr lang="en-US" sz="2000" dirty="0" smtClean="0"/>
              <a:t>found and the </a:t>
            </a:r>
            <a:r>
              <a:rPr lang="en-US" sz="2000" dirty="0" err="1" smtClean="0"/>
              <a:t>dupliactes</a:t>
            </a:r>
            <a:r>
              <a:rPr lang="en-US" sz="2000" dirty="0" smtClean="0"/>
              <a:t> records were dropped.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tx1"/>
                </a:solidFill>
              </a:rPr>
              <a:t>Checking Null </a:t>
            </a:r>
            <a:r>
              <a:rPr lang="en-US" sz="2000" b="1" dirty="0">
                <a:solidFill>
                  <a:schemeClr val="tx1"/>
                </a:solidFill>
              </a:rPr>
              <a:t>Values </a:t>
            </a:r>
          </a:p>
          <a:p>
            <a:r>
              <a:rPr lang="en-US" sz="2000" dirty="0" smtClean="0"/>
              <a:t>Missing </a:t>
            </a:r>
            <a:r>
              <a:rPr lang="en-US" sz="2000" dirty="0"/>
              <a:t>values found in </a:t>
            </a:r>
            <a:r>
              <a:rPr lang="en-US" sz="2000" dirty="0" err="1"/>
              <a:t>loan_int_rate</a:t>
            </a:r>
            <a:r>
              <a:rPr lang="en-US" sz="2000" dirty="0"/>
              <a:t> and </a:t>
            </a:r>
            <a:r>
              <a:rPr lang="en-US" sz="2000" dirty="0" err="1" smtClean="0"/>
              <a:t>person_emp_length</a:t>
            </a:r>
            <a:r>
              <a:rPr lang="en-US" sz="2000" dirty="0" smtClean="0"/>
              <a:t>.</a:t>
            </a:r>
          </a:p>
          <a:p>
            <a:r>
              <a:rPr lang="en-US" sz="2000" dirty="0"/>
              <a:t>Median imputation was </a:t>
            </a:r>
            <a:r>
              <a:rPr lang="en-US" sz="2000" dirty="0" smtClean="0"/>
              <a:t>used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IN" sz="18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3249" y="329565"/>
            <a:ext cx="3531550" cy="3080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3249" y="3545840"/>
            <a:ext cx="3531551" cy="3235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9499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D91676-5B3C-FB3A-7FEC-8C0769E6B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                                     </a:t>
            </a:r>
            <a:r>
              <a:rPr lang="en-IN" sz="4000" b="1" dirty="0">
                <a:solidFill>
                  <a:schemeClr val="tx1"/>
                </a:solidFill>
              </a:rPr>
              <a:t>Univariate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542BBED-6E65-DA2B-AC7F-36FA59465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42260"/>
            <a:ext cx="10515600" cy="533470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 smtClean="0"/>
              <a:t>Analysis </a:t>
            </a:r>
            <a:r>
              <a:rPr lang="en-US" sz="1800" dirty="0"/>
              <a:t>of individual variables to understand their distribution and overall behavior.</a:t>
            </a:r>
            <a:endParaRPr lang="en-US" sz="1800" b="1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tx1"/>
                </a:solidFill>
              </a:rPr>
              <a:t>Plots Used</a:t>
            </a:r>
          </a:p>
          <a:p>
            <a:r>
              <a:rPr lang="en-US" sz="1800" dirty="0"/>
              <a:t>Pie Chart – to show category </a:t>
            </a:r>
            <a:r>
              <a:rPr lang="en-US" sz="1800" dirty="0" smtClean="0"/>
              <a:t>proportions</a:t>
            </a:r>
          </a:p>
          <a:p>
            <a:r>
              <a:rPr lang="en-US" sz="1800" dirty="0" smtClean="0"/>
              <a:t>Box </a:t>
            </a:r>
            <a:r>
              <a:rPr lang="en-US" sz="1800" dirty="0"/>
              <a:t>Plot – to examine numerical spread and </a:t>
            </a:r>
            <a:r>
              <a:rPr lang="en-US" sz="1800" dirty="0" smtClean="0"/>
              <a:t>outliers</a:t>
            </a:r>
          </a:p>
          <a:p>
            <a:r>
              <a:rPr lang="en-US" sz="1800" dirty="0" err="1" smtClean="0"/>
              <a:t>Hist</a:t>
            </a:r>
            <a:r>
              <a:rPr lang="en-US" sz="1800" dirty="0" smtClean="0"/>
              <a:t> </a:t>
            </a:r>
            <a:r>
              <a:rPr lang="en-US" sz="1800" dirty="0"/>
              <a:t>Plot – </a:t>
            </a:r>
            <a:r>
              <a:rPr lang="en-US" sz="1800" dirty="0" smtClean="0"/>
              <a:t>Histogram </a:t>
            </a:r>
            <a:r>
              <a:rPr lang="en-US" sz="1800" dirty="0"/>
              <a:t>help in identifying data distribution, </a:t>
            </a:r>
            <a:r>
              <a:rPr lang="en-US" sz="1800" dirty="0" err="1"/>
              <a:t>skewness</a:t>
            </a:r>
            <a:r>
              <a:rPr lang="en-US" sz="1800" dirty="0"/>
              <a:t>, and concentration of values.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2" y="3107074"/>
            <a:ext cx="3569840" cy="315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5191760" y="3295832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Observations: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Most </a:t>
            </a: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borrowers fall within the working-age range, showing the loans are taken mainly by economically active people.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A few very young and very old borrowers appear as outliers.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The age distribution is not extremely skewed, meaning loans are spread across different age groups.</a:t>
            </a:r>
          </a:p>
        </p:txBody>
      </p:sp>
    </p:spTree>
    <p:extLst>
      <p:ext uri="{BB962C8B-B14F-4D97-AF65-F5344CB8AC3E}">
        <p14:creationId xmlns:p14="http://schemas.microsoft.com/office/powerpoint/2010/main" val="4068556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D91676-5B3C-FB3A-7FEC-8C0769E6B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0" y="-15795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                                     </a:t>
            </a:r>
            <a:endParaRPr lang="en-IN" sz="4000" b="1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542BBED-6E65-DA2B-AC7F-36FA59465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2400"/>
            <a:ext cx="10515600" cy="602456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800" dirty="0" smtClean="0"/>
              <a:t>                                                                                      </a:t>
            </a:r>
            <a:endParaRPr lang="en-US" sz="18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08" y="3465899"/>
            <a:ext cx="3229012" cy="2925324"/>
          </a:xfrm>
          <a:prstGeom prst="rect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222240" y="815816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Observations: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Income </a:t>
            </a: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is right-skewed.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Most borrowers earn in low to medium income range.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Few high-income borrowers raise the average income.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22240" y="3455739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Observations: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Majority </a:t>
            </a: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of loans are non-default.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Dataset is </a:t>
            </a:r>
            <a:r>
              <a:rPr lang="en-US" sz="18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imbalanced,which</a:t>
            </a: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 reflects real-world banking data.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Even though defaults are fewer, they are critical for credit risk analysis.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793" y="233522"/>
            <a:ext cx="4172842" cy="2918913"/>
          </a:xfrm>
          <a:prstGeom prst="rect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1422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A528FE-C620-1A0D-3AC8-8A4A5645F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1515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                                 </a:t>
            </a:r>
            <a:r>
              <a:rPr lang="en-IN" sz="3600" b="1" dirty="0">
                <a:solidFill>
                  <a:schemeClr val="tx1"/>
                </a:solidFill>
              </a:rPr>
              <a:t>Bivariate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012F8E2-B9BC-E3B7-0AE5-C45C97296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56640"/>
            <a:ext cx="10515600" cy="5120323"/>
          </a:xfrm>
        </p:spPr>
        <p:txBody>
          <a:bodyPr/>
          <a:lstStyle/>
          <a:p>
            <a:r>
              <a:rPr lang="en-US" sz="2000" dirty="0"/>
              <a:t>Analysis of the relationship between two variables to identify patterns or associations.</a:t>
            </a:r>
            <a:endParaRPr lang="en-US" sz="2000" b="1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Plots Used</a:t>
            </a:r>
          </a:p>
          <a:p>
            <a:r>
              <a:rPr lang="en-US" sz="2000" dirty="0"/>
              <a:t>Count Plot – </a:t>
            </a:r>
            <a:r>
              <a:rPr lang="en-IN" sz="2000" dirty="0"/>
              <a:t>to compare categorical </a:t>
            </a:r>
            <a:r>
              <a:rPr lang="en-IN" sz="2000" dirty="0" smtClean="0"/>
              <a:t>variables</a:t>
            </a:r>
            <a:endParaRPr lang="en-US" sz="2000" dirty="0" smtClean="0"/>
          </a:p>
          <a:p>
            <a:r>
              <a:rPr lang="en-US" sz="2000" dirty="0" smtClean="0"/>
              <a:t>Scatter Plot – to </a:t>
            </a:r>
            <a:r>
              <a:rPr lang="en-US" sz="2000" dirty="0"/>
              <a:t>study relationships between numerical </a:t>
            </a:r>
            <a:r>
              <a:rPr lang="en-US" sz="2000" dirty="0" smtClean="0"/>
              <a:t>variables</a:t>
            </a:r>
          </a:p>
          <a:p>
            <a:r>
              <a:rPr lang="en-US" sz="2000" dirty="0"/>
              <a:t>Bar plot – to compare numerical values across categories</a:t>
            </a:r>
            <a:endParaRPr lang="en-IN" sz="20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" y="3506708"/>
            <a:ext cx="5070475" cy="2624572"/>
          </a:xfrm>
          <a:prstGeom prst="rect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811520" y="3506708"/>
            <a:ext cx="6096000" cy="21268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Observations: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Borrowers </a:t>
            </a: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with a previous default on record are more common in </a:t>
            </a: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medical </a:t>
            </a: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and education loans.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Loan purpose is closely related to borrower credit history and risk </a:t>
            </a: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behavior</a:t>
            </a: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0058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D91676-5B3C-FB3A-7FEC-8C0769E6B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>                                    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542BBED-6E65-DA2B-AC7F-36FA594657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 smtClean="0"/>
              <a:t>                                                                                     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222240" y="815816"/>
            <a:ext cx="6096000" cy="21698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Observations: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Higher income borrowers take larger loans.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Lower income borrowers are concentrated around smaller loan amounts.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Bank considers income while approving loan size.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22240" y="3455739"/>
            <a:ext cx="6096000" cy="21698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Observations: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Medical and </a:t>
            </a:r>
            <a:r>
              <a:rPr lang="en-US" sz="18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debtconsolidation</a:t>
            </a: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 loans have higher average default rates.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Education and venture loans show lower default rates.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Loan purpose strongly influences repayment behavior.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828" y="485804"/>
            <a:ext cx="4425080" cy="2829847"/>
          </a:xfrm>
          <a:prstGeom prst="rect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828" y="3561399"/>
            <a:ext cx="4425080" cy="2615881"/>
          </a:xfrm>
          <a:prstGeom prst="rect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6291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3BDA3A-C59E-9DD9-6F13-C965D3D8A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21285"/>
            <a:ext cx="10515600" cy="986155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                                </a:t>
            </a:r>
            <a:r>
              <a:rPr lang="en-IN" sz="3600" b="1" dirty="0">
                <a:solidFill>
                  <a:schemeClr val="tx1"/>
                </a:solidFill>
              </a:rPr>
              <a:t>Multivariate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B841B0A-8012-D037-B5F2-2FB3C9E19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8320" y="906859"/>
            <a:ext cx="10906760" cy="5602446"/>
          </a:xfrm>
        </p:spPr>
        <p:txBody>
          <a:bodyPr/>
          <a:lstStyle/>
          <a:p>
            <a:r>
              <a:rPr lang="en-US" sz="2000" b="1" dirty="0"/>
              <a:t>Multivariate analysis</a:t>
            </a:r>
            <a:r>
              <a:rPr lang="en-US" sz="2000" dirty="0"/>
              <a:t> involves </a:t>
            </a:r>
            <a:r>
              <a:rPr lang="en-US" sz="2000" b="1" dirty="0"/>
              <a:t>three or more variables</a:t>
            </a:r>
            <a:r>
              <a:rPr lang="en-US" sz="2000" dirty="0"/>
              <a:t> analyzed together to understand complex interactions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Graphs Used</a:t>
            </a:r>
          </a:p>
          <a:p>
            <a:r>
              <a:rPr lang="en-US" sz="2000" dirty="0" smtClean="0"/>
              <a:t>Pair Plot</a:t>
            </a:r>
          </a:p>
          <a:p>
            <a:r>
              <a:rPr lang="en-US" sz="2000" dirty="0" smtClean="0"/>
              <a:t>Correlation </a:t>
            </a:r>
            <a:r>
              <a:rPr lang="en-US" sz="2000" dirty="0"/>
              <a:t>Heatmap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9" y="2961975"/>
            <a:ext cx="5126671" cy="3653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6167120" y="3141308"/>
            <a:ext cx="5212080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Observations: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Loan </a:t>
            </a: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percent income strongly impacts default.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Interest rate increases default risk.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Credit history reduces default risk.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Income is positively related to loan amount.</a:t>
            </a:r>
          </a:p>
        </p:txBody>
      </p:sp>
    </p:spTree>
    <p:extLst>
      <p:ext uri="{BB962C8B-B14F-4D97-AF65-F5344CB8AC3E}">
        <p14:creationId xmlns:p14="http://schemas.microsoft.com/office/powerpoint/2010/main" val="2603846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3BDA3A-C59E-9DD9-6F13-C965D3D8A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80" y="-325755"/>
            <a:ext cx="10515600" cy="986155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                                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939" y="934402"/>
            <a:ext cx="6204901" cy="4419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6736080" y="1709459"/>
            <a:ext cx="46431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Observations: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Income </a:t>
            </a: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and loan amount are positively related.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High interest rates align with defaults.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Clear separation between risky and safe borrowers.</a:t>
            </a:r>
          </a:p>
        </p:txBody>
      </p:sp>
    </p:spTree>
    <p:extLst>
      <p:ext uri="{BB962C8B-B14F-4D97-AF65-F5344CB8AC3E}">
        <p14:creationId xmlns:p14="http://schemas.microsoft.com/office/powerpoint/2010/main" val="292358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9E4C1D-BE0C-4E04-B45E-CB20B35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9755"/>
          </a:xfrm>
        </p:spPr>
        <p:txBody>
          <a:bodyPr>
            <a:noAutofit/>
          </a:bodyPr>
          <a:lstStyle/>
          <a:p>
            <a:r>
              <a:rPr lang="en-IN" sz="3600" b="1" dirty="0">
                <a:solidFill>
                  <a:schemeClr val="tx1"/>
                </a:solidFill>
              </a:rPr>
              <a:t>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C5DDC4D-F1B0-F865-8491-102ED0A45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44880"/>
            <a:ext cx="10515600" cy="5232083"/>
          </a:xfrm>
        </p:spPr>
        <p:txBody>
          <a:bodyPr>
            <a:normAutofit/>
          </a:bodyPr>
          <a:lstStyle/>
          <a:p>
            <a:r>
              <a:rPr lang="en-US" sz="2000" dirty="0"/>
              <a:t>People who take </a:t>
            </a:r>
            <a:r>
              <a:rPr lang="en-US" sz="2000" b="1" dirty="0"/>
              <a:t>big loans compared to their income</a:t>
            </a:r>
            <a:r>
              <a:rPr lang="en-US" sz="2000" dirty="0"/>
              <a:t> are more likely to default.</a:t>
            </a:r>
          </a:p>
          <a:p>
            <a:r>
              <a:rPr lang="en-US" sz="2000" dirty="0"/>
              <a:t>Borrowers with </a:t>
            </a:r>
            <a:r>
              <a:rPr lang="en-US" sz="2000" b="1" dirty="0"/>
              <a:t>high interest rates and low loan grades</a:t>
            </a:r>
            <a:r>
              <a:rPr lang="en-US" sz="2000" dirty="0"/>
              <a:t> have higher risk.</a:t>
            </a:r>
          </a:p>
          <a:p>
            <a:r>
              <a:rPr lang="en-US" sz="2000" dirty="0"/>
              <a:t>People with </a:t>
            </a:r>
            <a:r>
              <a:rPr lang="en-US" sz="2000" b="1" dirty="0"/>
              <a:t>higher income, longer credit history, and home ownership</a:t>
            </a:r>
            <a:r>
              <a:rPr lang="en-US" sz="2000" dirty="0"/>
              <a:t> repay loans better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pPr marL="11430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Conclusion</a:t>
            </a:r>
          </a:p>
          <a:p>
            <a:r>
              <a:rPr lang="en-US" sz="2000" dirty="0"/>
              <a:t>This project analyzed loan and borrower data using Exploratory Data Analysis.</a:t>
            </a:r>
          </a:p>
          <a:p>
            <a:r>
              <a:rPr lang="en-US" sz="2000" dirty="0"/>
              <a:t>The data was cleaned and then studied using </a:t>
            </a:r>
            <a:r>
              <a:rPr lang="en-US" sz="2000" dirty="0" err="1"/>
              <a:t>univariate</a:t>
            </a:r>
            <a:r>
              <a:rPr lang="en-US" sz="2000" dirty="0"/>
              <a:t>, bivariate, and multivariate methods.</a:t>
            </a:r>
          </a:p>
          <a:p>
            <a:r>
              <a:rPr lang="en-US" sz="2000" dirty="0"/>
              <a:t>Loan burden, interest rate, and credit history were found to be the main factors affecting loan default.</a:t>
            </a:r>
          </a:p>
          <a:p>
            <a:r>
              <a:rPr lang="en-US" sz="2000" dirty="0"/>
              <a:t>Income alone is not enough to predict whether a borrower will repay a loan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38853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741</Words>
  <Application>Microsoft Office PowerPoint</Application>
  <PresentationFormat>Custom</PresentationFormat>
  <Paragraphs>130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Lato Black</vt:lpstr>
      <vt:lpstr>Wingdings</vt:lpstr>
      <vt:lpstr>Libre Baskerville</vt:lpstr>
      <vt:lpstr>Calibri</vt:lpstr>
      <vt:lpstr>Office Theme</vt:lpstr>
      <vt:lpstr>PowerPoint Presentation</vt:lpstr>
      <vt:lpstr>                                   Overview of the Project      Agenda:</vt:lpstr>
      <vt:lpstr>PowerPoint Presentation</vt:lpstr>
      <vt:lpstr>                                  Why This Project?</vt:lpstr>
      <vt:lpstr>       Dataset Information</vt:lpstr>
      <vt:lpstr>                                Understanding the Dataset</vt:lpstr>
      <vt:lpstr>Data Cleaning &amp; Preparation</vt:lpstr>
      <vt:lpstr>                                     Univariate Analysis</vt:lpstr>
      <vt:lpstr>                                     </vt:lpstr>
      <vt:lpstr>                                 Bivariate Analysis</vt:lpstr>
      <vt:lpstr>                                     </vt:lpstr>
      <vt:lpstr>                                Multivariate Analysis</vt:lpstr>
      <vt:lpstr>                                </vt:lpstr>
      <vt:lpstr>Insights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n0ak95</cp:lastModifiedBy>
  <cp:revision>21</cp:revision>
  <dcterms:created xsi:type="dcterms:W3CDTF">2021-02-16T05:19:01Z</dcterms:created>
  <dcterms:modified xsi:type="dcterms:W3CDTF">2026-03-03T17:34:40Z</dcterms:modified>
</cp:coreProperties>
</file>